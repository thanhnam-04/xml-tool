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mpodf7dr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tmpj3jx5hf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004" y="1181100"/>
            <a:ext cx="4495688" cy="4495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3835" y="2377440"/>
            <a:ext cx="2164026" cy="2103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111111"/>
                </a:solidFill>
                <a:latin typeface="Arial"/>
              </a:defRPr>
            </a:pPr>
            <a:r>
              <a:t>AGILE VALUES IN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9074" y="1082040"/>
            <a:ext cx="3276518" cy="1051560"/>
          </a:xfrm>
          <a:prstGeom prst="round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28594" y="1036320"/>
            <a:ext cx="3276518" cy="1051560"/>
          </a:xfrm>
          <a:prstGeom prst="roundRect">
            <a:avLst/>
          </a:prstGeom>
          <a:solidFill>
            <a:srgbClr val="FBFBFC"/>
          </a:solidFill>
          <a:ln w="12700">
            <a:solidFill>
              <a:srgbClr val="E2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36534" y="1036320"/>
            <a:ext cx="68578" cy="1051560"/>
          </a:xfrm>
          <a:prstGeom prst="roundRect">
            <a:avLst/>
          </a:prstGeom>
          <a:solidFill>
            <a:srgbClr val="FF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621214" y="1226820"/>
            <a:ext cx="670543" cy="6705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mpow1rhn8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8734" y="1374343"/>
            <a:ext cx="375504" cy="3755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70" y="1280160"/>
            <a:ext cx="2042109" cy="213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50" b="1" i="0">
                <a:solidFill>
                  <a:srgbClr val="1A1A1A"/>
                </a:solidFill>
                <a:latin typeface="Arial"/>
              </a:defRPr>
            </a:pPr>
            <a:r>
              <a:t>Collaborative Culture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0" y="1524000"/>
            <a:ext cx="204210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1A1A1A"/>
                </a:solidFill>
                <a:latin typeface="Arial"/>
              </a:defRPr>
            </a:pPr>
            <a:r>
              <a:t>Team members work closely together and with stakeholders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17062" y="1082040"/>
            <a:ext cx="3276518" cy="1051560"/>
          </a:xfrm>
          <a:prstGeom prst="round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583" y="1036320"/>
            <a:ext cx="3276518" cy="1051560"/>
          </a:xfrm>
          <a:prstGeom prst="roundRect">
            <a:avLst/>
          </a:prstGeom>
          <a:solidFill>
            <a:srgbClr val="FBFBFC"/>
          </a:solidFill>
          <a:ln w="12700">
            <a:solidFill>
              <a:srgbClr val="E2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583" y="1036320"/>
            <a:ext cx="68578" cy="1051560"/>
          </a:xfrm>
          <a:prstGeom prst="roundRect">
            <a:avLst/>
          </a:prstGeom>
          <a:solidFill>
            <a:srgbClr val="A7D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99937" y="1226820"/>
            <a:ext cx="670543" cy="6705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A7D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mp1xdq5l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7457" y="1374343"/>
            <a:ext cx="375504" cy="3755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753356" y="1188720"/>
            <a:ext cx="2026869" cy="396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50" b="1" i="0">
                <a:solidFill>
                  <a:srgbClr val="1A1A1A"/>
                </a:solidFill>
                <a:latin typeface="Arial"/>
              </a:defRPr>
            </a:pPr>
            <a:r>
              <a:t>Transparent Communication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356" y="1615440"/>
            <a:ext cx="202686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1A1A1A"/>
                </a:solidFill>
                <a:latin typeface="Arial"/>
              </a:defRPr>
            </a:pPr>
            <a:r>
              <a:t>Openly share progress and challenges to build trust.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7062" y="2948940"/>
            <a:ext cx="3276518" cy="1051560"/>
          </a:xfrm>
          <a:prstGeom prst="round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583" y="2903220"/>
            <a:ext cx="3276518" cy="1051560"/>
          </a:xfrm>
          <a:prstGeom prst="roundRect">
            <a:avLst/>
          </a:prstGeom>
          <a:solidFill>
            <a:srgbClr val="FBFBFC"/>
          </a:solidFill>
          <a:ln w="12700">
            <a:solidFill>
              <a:srgbClr val="E2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583" y="2903220"/>
            <a:ext cx="68578" cy="1051560"/>
          </a:xfrm>
          <a:prstGeom prst="roundRect">
            <a:avLst/>
          </a:prstGeom>
          <a:solidFill>
            <a:srgbClr val="10C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899937" y="3093720"/>
            <a:ext cx="670543" cy="6705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C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mp23fd6t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7457" y="3241243"/>
            <a:ext cx="375504" cy="3755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753356" y="3147060"/>
            <a:ext cx="2026869" cy="213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50" b="1" i="0">
                <a:solidFill>
                  <a:srgbClr val="1A1A1A"/>
                </a:solidFill>
                <a:latin typeface="Arial"/>
              </a:defRPr>
            </a:pPr>
            <a:r>
              <a:t>Self-Organization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356" y="3390900"/>
            <a:ext cx="202686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1A1A1A"/>
                </a:solidFill>
                <a:latin typeface="Arial"/>
              </a:defRPr>
            </a:pPr>
            <a:r>
              <a:t>Teams manage their own work and problem-solving processes.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17062" y="4815840"/>
            <a:ext cx="3276518" cy="1051560"/>
          </a:xfrm>
          <a:prstGeom prst="round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583" y="4770120"/>
            <a:ext cx="3276518" cy="1051560"/>
          </a:xfrm>
          <a:prstGeom prst="roundRect">
            <a:avLst/>
          </a:prstGeom>
          <a:solidFill>
            <a:srgbClr val="FBFBFC"/>
          </a:solidFill>
          <a:ln w="12700">
            <a:solidFill>
              <a:srgbClr val="E2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583" y="4770120"/>
            <a:ext cx="68578" cy="1051560"/>
          </a:xfrm>
          <a:prstGeom prst="roundRect">
            <a:avLst/>
          </a:prstGeom>
          <a:solidFill>
            <a:srgbClr val="8A79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99937" y="4960620"/>
            <a:ext cx="670543" cy="6705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8A7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mpoxvuxw0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7457" y="5108143"/>
            <a:ext cx="375504" cy="37551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753356" y="5013960"/>
            <a:ext cx="2026869" cy="213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50" b="1" i="0">
                <a:solidFill>
                  <a:srgbClr val="1A1A1A"/>
                </a:solidFill>
                <a:latin typeface="Arial"/>
              </a:defRPr>
            </a:pPr>
            <a:r>
              <a:t>Adaptability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3356" y="5257800"/>
            <a:ext cx="202686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1A1A1A"/>
                </a:solidFill>
                <a:latin typeface="Arial"/>
              </a:defRPr>
            </a:pPr>
            <a:r>
              <a:t>The team can pivot quickly based on new information.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9074" y="4815840"/>
            <a:ext cx="3276518" cy="1051560"/>
          </a:xfrm>
          <a:prstGeom prst="round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8594" y="4770120"/>
            <a:ext cx="3276518" cy="1051560"/>
          </a:xfrm>
          <a:prstGeom prst="roundRect">
            <a:avLst/>
          </a:prstGeom>
          <a:solidFill>
            <a:srgbClr val="FBFBFC"/>
          </a:solidFill>
          <a:ln w="12700">
            <a:solidFill>
              <a:srgbClr val="E2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436534" y="4770120"/>
            <a:ext cx="68578" cy="1051560"/>
          </a:xfrm>
          <a:prstGeom prst="roundRect">
            <a:avLst/>
          </a:prstGeom>
          <a:solidFill>
            <a:srgbClr val="469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621214" y="4960620"/>
            <a:ext cx="670543" cy="6705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469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mpn_xo4r3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68734" y="5108143"/>
            <a:ext cx="375504" cy="37551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11470" y="5013960"/>
            <a:ext cx="2042109" cy="213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50" b="1" i="0">
                <a:solidFill>
                  <a:srgbClr val="1A1A1A"/>
                </a:solidFill>
                <a:latin typeface="Arial"/>
              </a:defRPr>
            </a:pPr>
            <a:r>
              <a:t>Customer Focus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70" y="5257800"/>
            <a:ext cx="204210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1A1A1A"/>
                </a:solidFill>
                <a:latin typeface="Arial"/>
              </a:defRPr>
            </a:pPr>
            <a:r>
              <a:t>The team's primary goal is to deliver value to the customer.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9074" y="2948940"/>
            <a:ext cx="3276518" cy="1051560"/>
          </a:xfrm>
          <a:prstGeom prst="round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28594" y="2903220"/>
            <a:ext cx="3276518" cy="1051560"/>
          </a:xfrm>
          <a:prstGeom prst="roundRect">
            <a:avLst/>
          </a:prstGeom>
          <a:solidFill>
            <a:srgbClr val="FBFBFC"/>
          </a:solidFill>
          <a:ln w="12700">
            <a:solidFill>
              <a:srgbClr val="E2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36534" y="2903220"/>
            <a:ext cx="68578" cy="1051560"/>
          </a:xfrm>
          <a:prstGeom prst="roundRect">
            <a:avLst/>
          </a:prstGeom>
          <a:solidFill>
            <a:srgbClr val="15B7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621214" y="3093720"/>
            <a:ext cx="670543" cy="6705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5B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mp4d_0yk3v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68734" y="3241243"/>
            <a:ext cx="375504" cy="37551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11470" y="3147060"/>
            <a:ext cx="2042109" cy="213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50" b="1" i="0">
                <a:solidFill>
                  <a:srgbClr val="1A1A1A"/>
                </a:solidFill>
                <a:latin typeface="Arial"/>
              </a:defRPr>
            </a:pPr>
            <a:r>
              <a:t>Iterative Delivery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70" y="3390900"/>
            <a:ext cx="204210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1A1A1A"/>
                </a:solidFill>
                <a:latin typeface="Arial"/>
              </a:defRPr>
            </a:pPr>
            <a:r>
              <a:t>Projects are broken into small, manageable cycles.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