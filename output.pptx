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rm49uv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92" y="685800"/>
            <a:ext cx="5486263" cy="548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4182" y="2304288"/>
            <a:ext cx="2447483" cy="22494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000000"/>
                </a:solidFill>
                <a:latin typeface="Arial"/>
              </a:defRPr>
            </a:pPr>
            <a:r>
              <a:t>AGILE AND THE CUSTOMER JOURNEY AGILE AND THE CUSTOMER JOURNEY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3866748" y="1143000"/>
            <a:ext cx="2610090" cy="309143"/>
          </a:xfrm>
          <a:prstGeom prst="line">
            <a:avLst/>
          </a:prstGeom>
          <a:ln w="20320">
            <a:solidFill>
              <a:srgbClr val="D6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6431119" y="1097280"/>
            <a:ext cx="91438" cy="91440"/>
          </a:xfrm>
          <a:prstGeom prst="ellipse">
            <a:avLst/>
          </a:prstGeom>
          <a:solidFill>
            <a:srgbClr val="FFC400"/>
          </a:solidFill>
          <a:ln w="25400"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024731" y="2610155"/>
            <a:ext cx="1452107" cy="56845"/>
          </a:xfrm>
          <a:prstGeom prst="line">
            <a:avLst/>
          </a:prstGeom>
          <a:ln w="20320">
            <a:solidFill>
              <a:srgbClr val="D6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431119" y="2621280"/>
            <a:ext cx="91438" cy="91440"/>
          </a:xfrm>
          <a:prstGeom prst="ellipse">
            <a:avLst/>
          </a:prstGeom>
          <a:solidFill>
            <a:srgbClr val="A6D24A"/>
          </a:solidFill>
          <a:ln w="25400"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V="1">
            <a:off x="5024731" y="4191000"/>
            <a:ext cx="1452107" cy="56845"/>
          </a:xfrm>
          <a:prstGeom prst="line">
            <a:avLst/>
          </a:prstGeom>
          <a:ln w="20320">
            <a:solidFill>
              <a:srgbClr val="D6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6431119" y="4145280"/>
            <a:ext cx="91438" cy="91440"/>
          </a:xfrm>
          <a:prstGeom prst="ellipse">
            <a:avLst/>
          </a:prstGeom>
          <a:solidFill>
            <a:srgbClr val="12CDA5"/>
          </a:solidFill>
          <a:ln w="25400"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3866748" y="5405857"/>
            <a:ext cx="2610090" cy="309143"/>
          </a:xfrm>
          <a:prstGeom prst="line">
            <a:avLst/>
          </a:prstGeom>
          <a:ln w="20320">
            <a:solidFill>
              <a:srgbClr val="D6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6431119" y="5669280"/>
            <a:ext cx="91438" cy="91440"/>
          </a:xfrm>
          <a:prstGeom prst="ellipse">
            <a:avLst/>
          </a:prstGeom>
          <a:solidFill>
            <a:srgbClr val="18B7CF"/>
          </a:solidFill>
          <a:ln w="25400"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14937" y="739140"/>
            <a:ext cx="4952876" cy="914400"/>
          </a:xfrm>
          <a:prstGeom prst="roundRect">
            <a:avLst/>
          </a:prstGeom>
          <a:solidFill>
            <a:srgbClr val="DD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76838" y="685800"/>
            <a:ext cx="4952876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76838" y="685800"/>
            <a:ext cx="76198" cy="914400"/>
          </a:xfrm>
          <a:prstGeom prst="round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90193" y="838200"/>
            <a:ext cx="609585" cy="609600"/>
          </a:xfrm>
          <a:prstGeom prst="ellipse">
            <a:avLst/>
          </a:prstGeom>
          <a:solidFill>
            <a:srgbClr val="F8FAFC"/>
          </a:solidFill>
          <a:ln w="38100">
            <a:solidFill>
              <a:srgbClr val="FF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tmphlnv5n8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4301" y="972312"/>
            <a:ext cx="341367" cy="3413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513132" y="807720"/>
            <a:ext cx="3703227" cy="304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000000"/>
                </a:solidFill>
                <a:latin typeface="Arial"/>
              </a:defRPr>
            </a:pPr>
            <a:r>
              <a:t>Discovery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13132" y="1127760"/>
            <a:ext cx="3703227" cy="3886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111111"/>
                </a:solidFill>
                <a:latin typeface="Arial"/>
              </a:defRPr>
            </a:pPr>
            <a:r>
              <a:t>Teams work with customers to understand their specific problems.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14937" y="2263140"/>
            <a:ext cx="4952876" cy="914400"/>
          </a:xfrm>
          <a:prstGeom prst="roundRect">
            <a:avLst/>
          </a:prstGeom>
          <a:solidFill>
            <a:srgbClr val="DD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76838" y="2209800"/>
            <a:ext cx="4952876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76838" y="2209800"/>
            <a:ext cx="76198" cy="914400"/>
          </a:xfrm>
          <a:prstGeom prst="roundRect">
            <a:avLst/>
          </a:prstGeom>
          <a:solidFill>
            <a:srgbClr val="A6D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690193" y="2362200"/>
            <a:ext cx="609585" cy="609600"/>
          </a:xfrm>
          <a:prstGeom prst="ellipse">
            <a:avLst/>
          </a:prstGeom>
          <a:solidFill>
            <a:srgbClr val="F8FAFC"/>
          </a:solidFill>
          <a:ln w="38100">
            <a:solidFill>
              <a:srgbClr val="A6D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tmpzl2_xo0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4301" y="2496312"/>
            <a:ext cx="341367" cy="34137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513132" y="2331720"/>
            <a:ext cx="3703227" cy="304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000000"/>
                </a:solidFill>
                <a:latin typeface="Arial"/>
              </a:defRPr>
            </a:pPr>
            <a:r>
              <a:t>Iteration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13132" y="2651760"/>
            <a:ext cx="3703227" cy="3886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111111"/>
                </a:solidFill>
                <a:latin typeface="Arial"/>
              </a:defRPr>
            </a:pPr>
            <a:r>
              <a:t>New features are developed in small, usable increments.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14937" y="3787140"/>
            <a:ext cx="4952876" cy="914400"/>
          </a:xfrm>
          <a:prstGeom prst="roundRect">
            <a:avLst/>
          </a:prstGeom>
          <a:solidFill>
            <a:srgbClr val="DD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76838" y="3733800"/>
            <a:ext cx="4952876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76838" y="3733800"/>
            <a:ext cx="76198" cy="914400"/>
          </a:xfrm>
          <a:prstGeom prst="roundRect">
            <a:avLst/>
          </a:prstGeom>
          <a:solidFill>
            <a:srgbClr val="12C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690193" y="3886200"/>
            <a:ext cx="609585" cy="609600"/>
          </a:xfrm>
          <a:prstGeom prst="ellipse">
            <a:avLst/>
          </a:prstGeom>
          <a:solidFill>
            <a:srgbClr val="F8FAFC"/>
          </a:solidFill>
          <a:ln w="38100">
            <a:solidFill>
              <a:srgbClr val="12C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tmpyz81z4h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4301" y="4020312"/>
            <a:ext cx="341367" cy="34137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513132" y="3855720"/>
            <a:ext cx="3703227" cy="304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000000"/>
                </a:solidFill>
                <a:latin typeface="Arial"/>
              </a:defRPr>
            </a:pPr>
            <a:r>
              <a:t>Feedback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13132" y="4175760"/>
            <a:ext cx="3703227" cy="3886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111111"/>
                </a:solidFill>
                <a:latin typeface="Arial"/>
              </a:defRPr>
            </a:pPr>
            <a:r>
              <a:t>Customer feedback is continuously integrated into the development.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14937" y="5311140"/>
            <a:ext cx="4952876" cy="914400"/>
          </a:xfrm>
          <a:prstGeom prst="roundRect">
            <a:avLst/>
          </a:prstGeom>
          <a:solidFill>
            <a:srgbClr val="DD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76838" y="5257800"/>
            <a:ext cx="4952876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76838" y="5257800"/>
            <a:ext cx="76198" cy="914400"/>
          </a:xfrm>
          <a:prstGeom prst="roundRect">
            <a:avLst/>
          </a:prstGeom>
          <a:solidFill>
            <a:srgbClr val="18B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690193" y="5410200"/>
            <a:ext cx="609585" cy="609600"/>
          </a:xfrm>
          <a:prstGeom prst="ellipse">
            <a:avLst/>
          </a:prstGeom>
          <a:solidFill>
            <a:srgbClr val="F8FAFC"/>
          </a:solidFill>
          <a:ln w="38100">
            <a:solidFill>
              <a:srgbClr val="18B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tmpcrqld34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4301" y="5544312"/>
            <a:ext cx="341367" cy="341376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513132" y="5379720"/>
            <a:ext cx="3703227" cy="304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000000"/>
                </a:solidFill>
                <a:latin typeface="Arial"/>
              </a:defRPr>
            </a:pPr>
            <a:r>
              <a:t>Delivery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13132" y="5699760"/>
            <a:ext cx="3703227" cy="3886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1350" b="0" i="0">
                <a:solidFill>
                  <a:srgbClr val="111111"/>
                </a:solidFill>
                <a:latin typeface="Arial"/>
              </a:defRPr>
            </a:pPr>
            <a:r>
              <a:t>The team releases usable products frequently.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